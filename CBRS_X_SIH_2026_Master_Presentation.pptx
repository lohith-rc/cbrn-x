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84048"/>
            <a:ext cx="10725912" cy="1737360"/>
          </a:xfrm>
          <a:prstGeom prst="roundRect">
            <a:avLst/>
          </a:prstGeom>
          <a:solidFill>
            <a:srgbClr val="0A101E"/>
          </a:solidFill>
          <a:ln w="19050">
            <a:solidFill>
              <a:srgbClr val="00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E65F00"/>
                </a:solidFill>
              </a:defRPr>
            </a:pPr>
            <a:r>
              <a:t>SMART INDIA HACKATHON 2026 // PROBLEM STATEMENT: SIH260088</a:t>
            </a:r>
          </a:p>
          <a:p>
            <a:pPr>
              <a:spcBef>
                <a:spcPts val="300"/>
              </a:spcBef>
              <a:defRPr sz="2100" b="1">
                <a:solidFill>
                  <a:srgbClr val="FFFFFF"/>
                </a:solidFill>
              </a:defRPr>
            </a:pPr>
            <a:r>
              <a:t>☣️ CBRS-X : CBRN HAZMAT PROTOCOL &amp; RESPONSE SIMULATOR</a:t>
            </a:r>
          </a:p>
          <a:p>
            <a:pPr>
              <a:spcBef>
                <a:spcPts val="200"/>
              </a:spcBef>
              <a:defRPr sz="1100">
                <a:solidFill>
                  <a:srgbClr val="B4CDEB"/>
                </a:solidFill>
              </a:defRPr>
            </a:pPr>
            <a:r>
              <a:t>Enterprise Tactical VR &amp; WebGL Chemical, Biological &amp; Radiological Emergency Training with Deterministic Audit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67712"/>
            <a:ext cx="5120640" cy="3977639"/>
          </a:xfrm>
          <a:prstGeom prst="roundRect">
            <a:avLst/>
          </a:prstGeom>
          <a:solidFill>
            <a:srgbClr val="F6F9FD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0A101E"/>
                </a:solidFill>
              </a:defRPr>
            </a:pPr>
            <a:r>
              <a:t>📋 MISSION SPECIFICATIONS &amp; TASK FORCE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078D7"/>
                </a:solidFill>
              </a:rPr>
              <a:t>• Problem Statement ID: </a:t>
            </a:r>
            <a:r>
              <a:rPr sz="1000">
                <a:solidFill>
                  <a:srgbClr val="0F172A"/>
                </a:solidFill>
              </a:rPr>
              <a:t>SIH260088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078D7"/>
                </a:solidFill>
              </a:rPr>
              <a:t>• Problem Title: </a:t>
            </a:r>
            <a:r>
              <a:rPr sz="1000">
                <a:solidFill>
                  <a:srgbClr val="0F172A"/>
                </a:solidFill>
              </a:rPr>
              <a:t>Virtual Reality &amp; WebGL CBRN Emergency Simulator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078D7"/>
                </a:solidFill>
              </a:rPr>
              <a:t>• Target Ministry: </a:t>
            </a:r>
            <a:r>
              <a:rPr sz="1000">
                <a:solidFill>
                  <a:srgbClr val="0F172A"/>
                </a:solidFill>
              </a:rPr>
              <a:t>Disaster Management (NDRF / MHA)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078D7"/>
                </a:solidFill>
              </a:rPr>
              <a:t>• Solution Category: </a:t>
            </a:r>
            <a:r>
              <a:rPr sz="1000">
                <a:solidFill>
                  <a:srgbClr val="0F172A"/>
                </a:solidFill>
              </a:rPr>
              <a:t>Software &amp; Enterprise Telemetry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078D7"/>
                </a:solidFill>
              </a:rPr>
              <a:t>• Lead Institution: </a:t>
            </a:r>
            <a:r>
              <a:rPr sz="1000">
                <a:solidFill>
                  <a:srgbClr val="0F172A"/>
                </a:solidFill>
              </a:rPr>
              <a:t>Kalpataru Institute of Technology (KIT)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078D7"/>
                </a:solidFill>
              </a:rPr>
              <a:t>• Team Lead: </a:t>
            </a:r>
            <a:r>
              <a:rPr sz="1000">
                <a:solidFill>
                  <a:srgbClr val="0F172A"/>
                </a:solidFill>
              </a:rPr>
              <a:t>Lohith R C (Unity Physics, Backend &amp; Telemetry)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078D7"/>
                </a:solidFill>
              </a:rPr>
              <a:t>• Task Force Roster: </a:t>
            </a:r>
            <a:r>
              <a:rPr sz="1000">
                <a:solidFill>
                  <a:srgbClr val="0F172A"/>
                </a:solidFill>
              </a:rPr>
              <a:t>Monica K S, Chandana M P, Chandana M N, Harshini R B, Pavitra J H</a:t>
            </a:r>
          </a:p>
        </p:txBody>
      </p:sp>
      <p:pic>
        <p:nvPicPr>
          <p:cNvPr id="5" name="Picture 4" descr="03_Bay03_Isometric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267712"/>
            <a:ext cx="5422392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5833872"/>
            <a:ext cx="5056632" cy="32004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10A064"/>
                </a:solidFill>
              </a:defRPr>
            </a:pPr>
            <a:r>
              <a:t>📍 INDUSTRIAL STORAGE BAY 03 // 3D TACTICAL DIGITAL 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347472"/>
            <a:ext cx="10725912" cy="658368"/>
          </a:xfrm>
          <a:prstGeom prst="rect">
            <a:avLst/>
          </a:prstGeom>
          <a:solidFill>
            <a:srgbClr val="0A101E"/>
          </a:solidFill>
          <a:ln w="1524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950" b="1">
                <a:solidFill>
                  <a:srgbClr val="E65F00"/>
                </a:solidFill>
              </a:rPr>
              <a:t>[MISSION DOMAIN // SIH260088]  </a:t>
            </a:r>
            <a:r>
              <a:rPr sz="1400" b="1">
                <a:solidFill>
                  <a:srgbClr val="FFFFFF"/>
                </a:solidFill>
              </a:rPr>
              <a:t>PROPOSED SOLUTION &amp; INNOVATION // ZERO-RISK CBRN AUDITING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143000"/>
            <a:ext cx="3429000" cy="31546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🚨 The Real-World Crisis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Lethal Hazard Risks: </a:t>
            </a:r>
            <a:r>
              <a:rPr sz="900">
                <a:solidFill>
                  <a:srgbClr val="475569"/>
                </a:solidFill>
              </a:rPr>
              <a:t>Live CBRN drills risk fatal toxic vapor &amp; radiation exposure.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Prohibitive Suit Cost: </a:t>
            </a:r>
            <a:r>
              <a:rPr sz="900">
                <a:solidFill>
                  <a:srgbClr val="475569"/>
                </a:solidFill>
              </a:rPr>
              <a:t>Single-use Level-A suits cost ₹50,000+ per drill.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Zero Muscle Memory: </a:t>
            </a:r>
            <a:r>
              <a:rPr sz="900">
                <a:solidFill>
                  <a:srgbClr val="475569"/>
                </a:solidFill>
              </a:rPr>
              <a:t>Passive classroom lectures fail to build real reflex.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Subjective Bias: </a:t>
            </a:r>
            <a:r>
              <a:rPr sz="900">
                <a:solidFill>
                  <a:srgbClr val="475569"/>
                </a:solidFill>
              </a:rPr>
              <a:t>Human evaluations miss microsecond protocol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143000"/>
            <a:ext cx="3429000" cy="315468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200" b="1">
                <a:solidFill>
                  <a:srgbClr val="0078D7"/>
                </a:solidFill>
              </a:defRPr>
            </a:pPr>
            <a:r>
              <a:t>☣️ The CBRS-X Solution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Zero-Risk 3D Simulation: </a:t>
            </a:r>
            <a:r>
              <a:rPr sz="900">
                <a:solidFill>
                  <a:srgbClr val="475569"/>
                </a:solidFill>
              </a:rPr>
              <a:t>Virtual recreation of Storage Bay 03 hot zone.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Zero-Install WebGL: </a:t>
            </a:r>
            <a:r>
              <a:rPr sz="900">
                <a:solidFill>
                  <a:srgbClr val="475569"/>
                </a:solidFill>
              </a:rPr>
              <a:t>Runs natively in Chrome/Edge on budget laptops.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Strict SOP Enforcement: </a:t>
            </a:r>
            <a:r>
              <a:rPr sz="900">
                <a:solidFill>
                  <a:srgbClr val="475569"/>
                </a:solidFill>
              </a:rPr>
              <a:t>Governs official 5-stage NDRF emergency cycle.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Deterministic Grading: </a:t>
            </a:r>
            <a:r>
              <a:rPr sz="900">
                <a:solidFill>
                  <a:srgbClr val="475569"/>
                </a:solidFill>
              </a:rPr>
              <a:t>100-point audit engine eliminates subjective bias.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143000"/>
            <a:ext cx="3429000" cy="3154680"/>
          </a:xfrm>
          <a:prstGeom prst="roundRect">
            <a:avLst/>
          </a:prstGeom>
          <a:solidFill>
            <a:srgbClr val="F5FEF8"/>
          </a:solidFill>
          <a:ln w="19050">
            <a:solidFill>
              <a:srgbClr val="10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37160"/>
          <a:lstStyle/>
          <a:p>
            <a:pPr algn="ctr">
              <a:defRPr sz="1200" b="1">
                <a:solidFill>
                  <a:srgbClr val="10A064"/>
                </a:solidFill>
              </a:defRPr>
            </a:pPr>
            <a:r>
              <a:t>🌟 Core Innovation &amp; Edge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Dual-Screen Sync: </a:t>
            </a:r>
            <a:r>
              <a:rPr sz="900">
                <a:solidFill>
                  <a:srgbClr val="475569"/>
                </a:solidFill>
              </a:rPr>
              <a:t>WebGL Trainee view synced live with Instructor Radar.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Sub-50ms Telemetry: </a:t>
            </a:r>
            <a:r>
              <a:rPr sz="900">
                <a:solidFill>
                  <a:srgbClr val="475569"/>
                </a:solidFill>
              </a:rPr>
              <a:t>STOMP WebSockets streaming responder vitals at 60Hz.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SHA-256 Certification: </a:t>
            </a:r>
            <a:r>
              <a:rPr sz="900">
                <a:solidFill>
                  <a:srgbClr val="475569"/>
                </a:solidFill>
              </a:rPr>
              <a:t>Instant tamper-evident official PDF credentialing.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Multi-Hazard Engine: </a:t>
            </a:r>
            <a:r>
              <a:rPr sz="900">
                <a:solidFill>
                  <a:srgbClr val="475569"/>
                </a:solidFill>
              </a:rPr>
              <a:t>Hot-swappable Chemical, Bio &amp; Radiological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2066543" cy="1234440"/>
          </a:xfrm>
          <a:prstGeom prst="roundRect">
            <a:avLst/>
          </a:prstGeom>
          <a:solidFill>
            <a:srgbClr val="E65F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/>
          <a:lstStyle/>
          <a:p>
            <a:pPr algn="ctr">
              <a:defRPr sz="850" b="1">
                <a:solidFill>
                  <a:srgbClr val="F0F0F0"/>
                </a:solidFill>
              </a:defRPr>
            </a:pPr>
            <a:r>
              <a:t>[STAGE 1]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DETECT</a:t>
            </a:r>
          </a:p>
          <a:p>
            <a:pPr algn="ctr">
              <a:defRPr sz="850">
                <a:solidFill>
                  <a:srgbClr val="F5F5F5"/>
                </a:solidFill>
              </a:defRPr>
            </a:pPr>
            <a:r>
              <a:t>PID Gas Sampling</a:t>
            </a:r>
            <a:br/>
            <a:r>
              <a:t>PPM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8646" y="4434840"/>
            <a:ext cx="2066543" cy="1234440"/>
          </a:xfrm>
          <a:prstGeom prst="roundRect">
            <a:avLst/>
          </a:prstGeom>
          <a:solidFill>
            <a:srgbClr val="DC78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/>
          <a:lstStyle/>
          <a:p>
            <a:pPr algn="ctr">
              <a:defRPr sz="850" b="1">
                <a:solidFill>
                  <a:srgbClr val="F0F0F0"/>
                </a:solidFill>
              </a:defRPr>
            </a:pPr>
            <a:r>
              <a:t>[STAGE 2]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PROTECT</a:t>
            </a:r>
          </a:p>
          <a:p>
            <a:pPr algn="ctr">
              <a:defRPr sz="850">
                <a:solidFill>
                  <a:srgbClr val="F5F5F5"/>
                </a:solidFill>
              </a:defRPr>
            </a:pPr>
            <a:r>
              <a:t>Level-A Hazmat</a:t>
            </a:r>
            <a:br/>
            <a:r>
              <a:t>SCBA Air Donning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4" y="4434840"/>
            <a:ext cx="2066543" cy="12344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/>
          <a:lstStyle/>
          <a:p>
            <a:pPr algn="ctr">
              <a:defRPr sz="850" b="1">
                <a:solidFill>
                  <a:srgbClr val="F0F0F0"/>
                </a:solidFill>
              </a:defRPr>
            </a:pPr>
            <a:r>
              <a:t>[STAGE 3]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CONTAIN</a:t>
            </a:r>
          </a:p>
          <a:p>
            <a:pPr algn="ctr">
              <a:defRPr sz="850">
                <a:solidFill>
                  <a:srgbClr val="F5F5F5"/>
                </a:solidFill>
              </a:defRPr>
            </a:pPr>
            <a:r>
              <a:t>Magnetic Patch</a:t>
            </a:r>
            <a:br/>
            <a:r>
              <a:t>Torque Leak Seal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2900" y="4434840"/>
            <a:ext cx="2066543" cy="1234440"/>
          </a:xfrm>
          <a:prstGeom prst="roundRect">
            <a:avLst/>
          </a:prstGeom>
          <a:solidFill>
            <a:srgbClr val="0078D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/>
          <a:lstStyle/>
          <a:p>
            <a:pPr algn="ctr">
              <a:defRPr sz="850" b="1">
                <a:solidFill>
                  <a:srgbClr val="F0F0F0"/>
                </a:solidFill>
              </a:defRPr>
            </a:pPr>
            <a:r>
              <a:t>[STAGE 4]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EVACUATE</a:t>
            </a:r>
          </a:p>
          <a:p>
            <a:pPr algn="ctr">
              <a:defRPr sz="850">
                <a:solidFill>
                  <a:srgbClr val="F5F5F5"/>
                </a:solidFill>
              </a:defRPr>
            </a:pPr>
            <a:r>
              <a:t>Casualty Triage</a:t>
            </a:r>
            <a:br/>
            <a:r>
              <a:t>Warm Zone Transit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28" y="4434840"/>
            <a:ext cx="2066543" cy="1234440"/>
          </a:xfrm>
          <a:prstGeom prst="roundRect">
            <a:avLst/>
          </a:prstGeom>
          <a:solidFill>
            <a:srgbClr val="10A06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73152"/>
          <a:lstStyle/>
          <a:p>
            <a:pPr algn="ctr">
              <a:defRPr sz="850" b="1">
                <a:solidFill>
                  <a:srgbClr val="F0F0F0"/>
                </a:solidFill>
              </a:defRPr>
            </a:pPr>
            <a:r>
              <a:t>[STAGE 5]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DECONTAMINATE</a:t>
            </a:r>
          </a:p>
          <a:p>
            <a:pPr algn="ctr">
              <a:defRPr sz="850">
                <a:solidFill>
                  <a:srgbClr val="F5F5F5"/>
                </a:solidFill>
              </a:defRPr>
            </a:pPr>
            <a:r>
              <a:t>Multi-Stage Arch</a:t>
            </a:r>
            <a:br/>
            <a:r>
              <a:t>Washdown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347472"/>
            <a:ext cx="10725912" cy="658368"/>
          </a:xfrm>
          <a:prstGeom prst="rect">
            <a:avLst/>
          </a:prstGeom>
          <a:solidFill>
            <a:srgbClr val="0A101E"/>
          </a:solidFill>
          <a:ln w="1524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950" b="1">
                <a:solidFill>
                  <a:srgbClr val="E65F00"/>
                </a:solidFill>
              </a:rPr>
              <a:t>[FULL-STACK SPECS]  </a:t>
            </a:r>
            <a:r>
              <a:rPr sz="1400" b="1">
                <a:solidFill>
                  <a:srgbClr val="FFFFFF"/>
                </a:solidFill>
              </a:rPr>
              <a:t>TECHNICAL APPROACH &amp; SYSTEM ARCHITECTURE // MULTI-TIER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143000"/>
            <a:ext cx="3931920" cy="4526280"/>
          </a:xfrm>
          <a:prstGeom prst="roundRect">
            <a:avLst/>
          </a:prstGeom>
          <a:solidFill>
            <a:srgbClr val="F6F9FD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250" b="1">
                <a:solidFill>
                  <a:srgbClr val="0A101E"/>
                </a:solidFill>
              </a:defRPr>
            </a:pPr>
            <a:r>
              <a:t>🛠️ MULTI-TIER TECHNOLOGY STACK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0078D7"/>
                </a:solidFill>
              </a:rPr>
              <a:t>• Frontline Simulation: </a:t>
            </a:r>
            <a:r>
              <a:rPr sz="880">
                <a:solidFill>
                  <a:srgbClr val="475569"/>
                </a:solidFill>
              </a:rPr>
              <a:t>Unity 2022.3 LTS, WebGL / WASM, OpenXR, Universal Render Pipeline (URP)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0078D7"/>
                </a:solidFill>
              </a:rPr>
              <a:t>• Trainee Web Station: </a:t>
            </a:r>
            <a:r>
              <a:rPr sz="880">
                <a:solidFill>
                  <a:srgbClr val="475569"/>
                </a:solidFill>
              </a:rPr>
              <a:t>React 18, Three.js 3D viewport, Vite 5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0078D7"/>
                </a:solidFill>
              </a:rPr>
              <a:t>• Instructor Command: </a:t>
            </a:r>
            <a:r>
              <a:rPr sz="880">
                <a:solidFill>
                  <a:srgbClr val="475569"/>
                </a:solidFill>
              </a:rPr>
              <a:t>React 18 Glassmorphism, Recharts, 2D/3D Spatial Radar Map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0078D7"/>
                </a:solidFill>
              </a:rPr>
              <a:t>• Deterministic Core: </a:t>
            </a:r>
            <a:r>
              <a:rPr sz="880">
                <a:solidFill>
                  <a:srgbClr val="475569"/>
                </a:solidFill>
              </a:rPr>
              <a:t>Java 17, Spring Boot 3.2.5, REST API Controllers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0078D7"/>
                </a:solidFill>
              </a:rPr>
              <a:t>• Real-Time Telemetry: </a:t>
            </a:r>
            <a:r>
              <a:rPr sz="880">
                <a:solidFill>
                  <a:srgbClr val="475569"/>
                </a:solidFill>
              </a:rPr>
              <a:t>STOMP WebSockets (/ws-cbrsx) with &lt;50ms dispatch latency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0078D7"/>
                </a:solidFill>
              </a:rPr>
              <a:t>• Data Persistence: </a:t>
            </a:r>
            <a:r>
              <a:rPr sz="880">
                <a:solidFill>
                  <a:srgbClr val="475569"/>
                </a:solidFill>
              </a:rPr>
              <a:t>PostgreSQL 15 / Supabase relational audit trails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0078D7"/>
                </a:solidFill>
              </a:rPr>
              <a:t>• Security Hardening: </a:t>
            </a:r>
            <a:r>
              <a:rPr sz="880">
                <a:solidFill>
                  <a:srgbClr val="475569"/>
                </a:solidFill>
              </a:rPr>
              <a:t>LRU Sliding Rate Limiter (10k IP), SHA-256 PDF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143000"/>
            <a:ext cx="6611112" cy="352044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250" b="1">
                <a:solidFill>
                  <a:srgbClr val="0A101E"/>
                </a:solidFill>
              </a:defRPr>
            </a:pPr>
            <a:r>
              <a:t>📡 END-TO-END TELEMETRY &amp; DETERMINISTIC PIPELINE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A101E"/>
                </a:solidFill>
              </a:rPr>
              <a:t>1. Frontline Event Emission (WebGL / Unity C#):
</a:t>
            </a:r>
            <a:r>
              <a:rPr sz="900">
                <a:solidFill>
                  <a:srgbClr val="475569"/>
                </a:solidFill>
              </a:rPr>
              <a:t>As trainee navigates Bay 03, CbrsEventLogger transmits ISO-8601 UTC timestamped JSON telemetry (gas detection, suit donning, leak containment, decon exit) over HTTP/WS.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A101E"/>
                </a:solidFill>
              </a:rPr>
              <a:t>2. Real-Time Ingress &amp; State Evaluation (Spring Boot 3.2.5):
</a:t>
            </a:r>
            <a:r>
              <a:rPr sz="900">
                <a:solidFill>
                  <a:srgbClr val="475569"/>
                </a:solidFill>
              </a:rPr>
              <a:t>Ingress security filters validate payloads; ScoringService deterministically computes deductions for PPE breaches, PPM exposure, and containment speed with 0% subjective bias.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A101E"/>
                </a:solidFill>
              </a:rPr>
              <a:t>3. Tactical Broadcast &amp; Tamper-Evident Certification:
</a:t>
            </a:r>
            <a:r>
              <a:rPr sz="900">
                <a:solidFill>
                  <a:srgbClr val="475569"/>
                </a:solidFill>
              </a:rPr>
              <a:t>Broadcasts live responder radar coordinates to Instructor Command at 60Hz. At mission end, dynamically generates an official PDF certificate with embedded SHA-256 digest.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800600"/>
            <a:ext cx="6611112" cy="868680"/>
          </a:xfrm>
          <a:prstGeom prst="roundRect">
            <a:avLst/>
          </a:prstGeom>
          <a:solidFill>
            <a:srgbClr val="10A06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🏆 VERIFIED PRODUCTION RELIABILITY</a:t>
            </a:r>
          </a:p>
          <a:p>
            <a:pPr algn="ctr">
              <a:defRPr sz="900">
                <a:solidFill>
                  <a:srgbClr val="F0FFF5"/>
                </a:solidFill>
              </a:defRPr>
            </a:pPr>
            <a:r>
              <a:t>✔ 46 / 46 Unit &amp; Integration Tests Passed (JUnit 5 + MockMvc)  |  ✔ Sub-50ms WebSocket Broadcast  |  ✔ 60 FPS WebGL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347472"/>
            <a:ext cx="10725912" cy="658368"/>
          </a:xfrm>
          <a:prstGeom prst="rect">
            <a:avLst/>
          </a:prstGeom>
          <a:solidFill>
            <a:srgbClr val="0A101E"/>
          </a:solidFill>
          <a:ln w="1524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950" b="1">
                <a:solidFill>
                  <a:srgbClr val="E65F00"/>
                </a:solidFill>
              </a:rPr>
              <a:t>[TACTICAL RESILIENCE]  </a:t>
            </a:r>
            <a:r>
              <a:rPr sz="1400" b="1">
                <a:solidFill>
                  <a:srgbClr val="FFFFFF"/>
                </a:solidFill>
              </a:rPr>
              <a:t>FEASIBILITY, RISK MITIGATION &amp; FIELD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143000"/>
            <a:ext cx="5029200" cy="4526280"/>
          </a:xfrm>
          <a:prstGeom prst="roundRect">
            <a:avLst/>
          </a:prstGeom>
          <a:solidFill>
            <a:srgbClr val="F5F8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250" b="1">
                <a:solidFill>
                  <a:srgbClr val="0A101E"/>
                </a:solidFill>
              </a:defRPr>
            </a:pPr>
            <a:r>
              <a:t>📦 TECHNICAL &amp; OPERATIONAL FEASIBILITY</a:t>
            </a:r>
          </a:p>
          <a:p>
            <a:pPr>
              <a:spcBef>
                <a:spcPts val="450"/>
              </a:spcBef>
            </a:pPr>
            <a:r>
              <a:rPr b="1" sz="1000">
                <a:solidFill>
                  <a:srgbClr val="0078D7"/>
                </a:solidFill>
              </a:rPr>
              <a:t>✔ Zero Hardware Dependency
</a:t>
            </a:r>
            <a:r>
              <a:rPr sz="900">
                <a:solidFill>
                  <a:srgbClr val="475569"/>
                </a:solidFill>
              </a:rPr>
              <a:t>  Runs inside standard Google Chrome / Microsoft Edge on budget laptops without dedicated gaming GPUs.</a:t>
            </a:r>
          </a:p>
          <a:p>
            <a:pPr>
              <a:spcBef>
                <a:spcPts val="450"/>
              </a:spcBef>
            </a:pPr>
            <a:r>
              <a:rPr b="1" sz="1000">
                <a:solidFill>
                  <a:srgbClr val="0078D7"/>
                </a:solidFill>
              </a:rPr>
              <a:t>✔ Single-Command Field Setup
</a:t>
            </a:r>
            <a:r>
              <a:rPr sz="900">
                <a:solidFill>
                  <a:srgbClr val="475569"/>
                </a:solidFill>
              </a:rPr>
              <a:t>  `docker-compose up` spins up Nginx, Spring Boot backend, and PostgreSQL in under 15 seconds.</a:t>
            </a:r>
          </a:p>
          <a:p>
            <a:pPr>
              <a:spcBef>
                <a:spcPts val="450"/>
              </a:spcBef>
            </a:pPr>
            <a:r>
              <a:rPr b="1" sz="1000">
                <a:solidFill>
                  <a:srgbClr val="0078D7"/>
                </a:solidFill>
              </a:rPr>
              <a:t>✔ Local Hotspot Connectivity
</a:t>
            </a:r>
            <a:r>
              <a:rPr sz="900">
                <a:solidFill>
                  <a:srgbClr val="475569"/>
                </a:solidFill>
              </a:rPr>
              <a:t>  Responders connect laptops/tablets to a local router with zero external internet required.</a:t>
            </a:r>
          </a:p>
          <a:p>
            <a:pPr>
              <a:spcBef>
                <a:spcPts val="450"/>
              </a:spcBef>
            </a:pPr>
            <a:r>
              <a:rPr b="1" sz="1000">
                <a:solidFill>
                  <a:srgbClr val="0078D7"/>
                </a:solidFill>
              </a:rPr>
              <a:t>✔ High Concurrency Capacity
</a:t>
            </a:r>
            <a:r>
              <a:rPr sz="900">
                <a:solidFill>
                  <a:srgbClr val="475569"/>
                </a:solidFill>
              </a:rPr>
              <a:t>  Handles up to 50 concurrent simulation streams per local base server without frame rate degradation.</a:t>
            </a:r>
          </a:p>
          <a:p>
            <a:pPr>
              <a:spcBef>
                <a:spcPts val="450"/>
              </a:spcBef>
            </a:pPr>
            <a:r>
              <a:rPr b="1" sz="1000">
                <a:solidFill>
                  <a:srgbClr val="0078D7"/>
                </a:solidFill>
              </a:rPr>
              <a:t>✔ Multi-Hazard Polymorphism
</a:t>
            </a:r>
            <a:r>
              <a:rPr sz="900">
                <a:solidFill>
                  <a:srgbClr val="475569"/>
                </a:solidFill>
              </a:rPr>
              <a:t>  Hot-swappable JSON state machines for Chemical, Biological, and Radiological disaster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143000"/>
            <a:ext cx="5513832" cy="4526280"/>
          </a:xfrm>
          <a:prstGeom prst="roundRect">
            <a:avLst/>
          </a:prstGeom>
          <a:solidFill>
            <a:srgbClr val="F6F9FD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250" b="1">
                <a:solidFill>
                  <a:srgbClr val="DC2626"/>
                </a:solidFill>
              </a:defRPr>
            </a:pPr>
            <a:r>
              <a:t>⚠️ RISK ANALYSIS &amp; SYSTEMIC MITIGATION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A101E"/>
                </a:solidFill>
              </a:rPr>
              <a:t>• Heavy 3D WebGL Bundle Size
</a:t>
            </a:r>
            <a:r>
              <a:rPr sz="900">
                <a:solidFill>
                  <a:srgbClr val="475569"/>
                </a:solidFill>
              </a:rPr>
              <a:t>  ➔ Mitigation: Brotli compression + WebAssembly reduces initial load by 65%. Service Worker caching enables instant repeat launches.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A101E"/>
                </a:solidFill>
              </a:rPr>
              <a:t>• No Internet at Field Outposts
</a:t>
            </a:r>
            <a:r>
              <a:rPr sz="900">
                <a:solidFill>
                  <a:srgbClr val="475569"/>
                </a:solidFill>
              </a:rPr>
              <a:t>  ➔ Mitigation: Offline 'Field Box' Deployment: Entire ecosystem packaged in Docker Compose running on local offline Wi-Fi router.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A101E"/>
                </a:solidFill>
              </a:rPr>
              <a:t>• Certificate Forgery / Fraud
</a:t>
            </a:r>
            <a:r>
              <a:rPr sz="900">
                <a:solidFill>
                  <a:srgbClr val="475569"/>
                </a:solidFill>
              </a:rPr>
              <a:t>  ➔ Mitigation: Embedded SHA-256 cryptographic digest stamped on all generated PDF certificates allows instant hash verification.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A101E"/>
                </a:solidFill>
              </a:rPr>
              <a:t>• Cybersecurity &amp; Ingress Risks
</a:t>
            </a:r>
            <a:r>
              <a:rPr sz="900">
                <a:solidFill>
                  <a:srgbClr val="475569"/>
                </a:solidFill>
              </a:rPr>
              <a:t>  ➔ Mitigation: Bounded LRU Sliding-Window Rate Limiting (10k IP pool) + DDE / CSV injection sanitization filters.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347472"/>
            <a:ext cx="10725912" cy="658368"/>
          </a:xfrm>
          <a:prstGeom prst="rect">
            <a:avLst/>
          </a:prstGeom>
          <a:solidFill>
            <a:srgbClr val="0A101E"/>
          </a:solidFill>
          <a:ln w="1524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950" b="1">
                <a:solidFill>
                  <a:srgbClr val="E65F00"/>
                </a:solidFill>
              </a:rPr>
              <a:t>[STRATEGIC OUTCOMES]  </a:t>
            </a:r>
            <a:r>
              <a:rPr sz="1400" b="1">
                <a:solidFill>
                  <a:srgbClr val="FFFFFF"/>
                </a:solidFill>
              </a:rPr>
              <a:t>REAL-WORLD IMPACT, ROI &amp; NATIONWIDE SCALABILITY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143000"/>
            <a:ext cx="3429000" cy="150876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2000" b="1">
                <a:solidFill>
                  <a:srgbClr val="DC2626"/>
                </a:solidFill>
              </a:rPr>
              <a:t>100% </a:t>
            </a:r>
            <a:r>
              <a:rPr sz="1100" b="1">
                <a:solidFill>
                  <a:srgbClr val="0A101E"/>
                </a:solidFill>
              </a:rPr>
              <a:t>RISK ELIMINATION</a:t>
            </a:r>
          </a:p>
          <a:p>
            <a:pPr>
              <a:spcBef>
                <a:spcPts val="200"/>
              </a:spcBef>
              <a:defRPr sz="880">
                <a:solidFill>
                  <a:srgbClr val="475569"/>
                </a:solidFill>
              </a:defRPr>
            </a:pPr>
            <a:r>
              <a:t>Zero physical injury, chemical burns, or vapor inhalation during emergency drill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143000"/>
            <a:ext cx="3429000" cy="1508760"/>
          </a:xfrm>
          <a:prstGeom prst="roundRect">
            <a:avLst/>
          </a:prstGeom>
          <a:solidFill>
            <a:srgbClr val="F5FEF8"/>
          </a:solidFill>
          <a:ln w="19050">
            <a:solidFill>
              <a:srgbClr val="10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2000" b="1">
                <a:solidFill>
                  <a:srgbClr val="10A064"/>
                </a:solidFill>
              </a:rPr>
              <a:t>90%+ </a:t>
            </a:r>
            <a:r>
              <a:rPr sz="1100" b="1">
                <a:solidFill>
                  <a:srgbClr val="0A101E"/>
                </a:solidFill>
              </a:rPr>
              <a:t>COST REDUCTION</a:t>
            </a:r>
          </a:p>
          <a:p>
            <a:pPr>
              <a:spcBef>
                <a:spcPts val="200"/>
              </a:spcBef>
              <a:defRPr sz="880">
                <a:solidFill>
                  <a:srgbClr val="475569"/>
                </a:solidFill>
              </a:defRPr>
            </a:pPr>
            <a:r>
              <a:t>Saves ₹50,000–₹1,00,000 per responder per drill by eliminating single-use suit waste.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143000"/>
            <a:ext cx="3429000" cy="150876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2000" b="1">
                <a:solidFill>
                  <a:srgbClr val="0078D7"/>
                </a:solidFill>
              </a:rPr>
              <a:t>1,000+ </a:t>
            </a:r>
            <a:r>
              <a:rPr sz="1100" b="1">
                <a:solidFill>
                  <a:srgbClr val="0A101E"/>
                </a:solidFill>
              </a:rPr>
              <a:t>DRILLS / DAY</a:t>
            </a:r>
          </a:p>
          <a:p>
            <a:pPr>
              <a:spcBef>
                <a:spcPts val="200"/>
              </a:spcBef>
              <a:defRPr sz="880">
                <a:solidFill>
                  <a:srgbClr val="475569"/>
                </a:solidFill>
              </a:defRPr>
            </a:pPr>
            <a:r>
              <a:t>Infinite virtual repetitions with instantaneous objective grading and replay debriefs.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5486400" cy="2880360"/>
          </a:xfrm>
          <a:prstGeom prst="roundRect">
            <a:avLst/>
          </a:prstGeom>
          <a:solidFill>
            <a:srgbClr val="F6F9FD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defRPr sz="1200" b="1">
                <a:solidFill>
                  <a:srgbClr val="0A101E"/>
                </a:solidFill>
              </a:defRPr>
            </a:pPr>
            <a:r>
              <a:t>🎯 TARGET AUDIENCE &amp; INSTITUTIONAL REACH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078D7"/>
                </a:solidFill>
              </a:rPr>
              <a:t>• National &amp; State Disaster Forces: </a:t>
            </a:r>
            <a:r>
              <a:rPr sz="880">
                <a:solidFill>
                  <a:srgbClr val="475569"/>
                </a:solidFill>
              </a:rPr>
              <a:t>NDRF battalions, SDRF units across all Indian states &amp; Union Territories.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078D7"/>
                </a:solidFill>
              </a:rPr>
              <a:t>• Petrochemical &amp; Heavy Energy: </a:t>
            </a:r>
            <a:r>
              <a:rPr sz="880">
                <a:solidFill>
                  <a:srgbClr val="475569"/>
                </a:solidFill>
              </a:rPr>
              <a:t>Refineries, offshore rigs &amp; chemical depots (IOCL, ONGC, GAIL, NTPC, NPCIL).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078D7"/>
                </a:solidFill>
              </a:rPr>
              <a:t>• Defense &amp; Paramilitary HAZMAT: </a:t>
            </a:r>
            <a:r>
              <a:rPr sz="880">
                <a:solidFill>
                  <a:srgbClr val="475569"/>
                </a:solidFill>
              </a:rPr>
              <a:t>CRPF, CISF airport units, Indian Coast Guard, and Municipal Fire Brigades.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078D7"/>
                </a:solidFill>
              </a:rPr>
              <a:t>• Environmental Sustainability: </a:t>
            </a:r>
            <a:r>
              <a:rPr sz="880">
                <a:solidFill>
                  <a:srgbClr val="475569"/>
                </a:solidFill>
              </a:rPr>
              <a:t>Zero chemical runoff or hazardous plastic suit waste dumped into landfills.</a:t>
            </a:r>
          </a:p>
        </p:txBody>
      </p:sp>
      <p:pic>
        <p:nvPicPr>
          <p:cNvPr id="18" name="Picture 17" descr="04_Trainee_FirstPerson_Containment_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788920"/>
            <a:ext cx="5056632" cy="2880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492240" y="5349240"/>
            <a:ext cx="4873752" cy="27432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00" b="1">
                <a:solidFill>
                  <a:srgbClr val="E65F00"/>
                </a:solidFill>
              </a:defRPr>
            </a:pPr>
            <a:r>
              <a:t>⚡ FIRST-PERSON TACTICAL CONTAINMENT ACTION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CBRS-X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347472"/>
            <a:ext cx="10725912" cy="658368"/>
          </a:xfrm>
          <a:prstGeom prst="rect">
            <a:avLst/>
          </a:prstGeom>
          <a:solidFill>
            <a:srgbClr val="0A101E"/>
          </a:solidFill>
          <a:ln w="1524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/>
            <a:r>
              <a:rPr sz="950" b="1">
                <a:solidFill>
                  <a:srgbClr val="E65F00"/>
                </a:solidFill>
              </a:rPr>
              <a:t>[AUTHORITATIVE FOUNDATIONS]  </a:t>
            </a:r>
            <a:r>
              <a:rPr sz="1400" b="1">
                <a:solidFill>
                  <a:srgbClr val="FFFFFF"/>
                </a:solidFill>
              </a:rPr>
              <a:t>RESEARCH BASE, COMPLIANCE &amp; SCIENTIFIC STANDARDS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143000"/>
            <a:ext cx="10725912" cy="4526280"/>
          </a:xfrm>
          <a:prstGeom prst="roundRect">
            <a:avLst/>
          </a:prstGeom>
          <a:solidFill>
            <a:srgbClr val="F6F9FD"/>
          </a:solidFill>
          <a:ln w="1905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0A101E"/>
                </a:solidFill>
              </a:defRPr>
            </a:pPr>
            <a:r>
              <a:t>📑 OFFICIAL REGULATORY STANDARDS &amp; SCIENTIFIC CITATIONS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A101E"/>
                </a:solidFill>
              </a:rPr>
              <a:t>✔ 1. NDRF Tactical Standard Operating Procedures (SOP)
</a:t>
            </a:r>
            <a:r>
              <a:rPr sz="950">
                <a:solidFill>
                  <a:srgbClr val="475569"/>
                </a:solidFill>
              </a:rPr>
              <a:t>   Official National Disaster Response Force SOP guidelines for Chemical, Biological, Radiological, and Nuclear (CBRN) First-Responder incident lifecycles (MHA, Govt. of India).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A101E"/>
                </a:solidFill>
              </a:rPr>
              <a:t>✔ 2. National Disaster Management Authority (NDMA) Guidelines
</a:t>
            </a:r>
            <a:r>
              <a:rPr sz="950">
                <a:solidFill>
                  <a:srgbClr val="475569"/>
                </a:solidFill>
              </a:rPr>
              <a:t>   Management of Chemical (Terrorism) Disasters &amp; Industrial Hazardous Material Incident Response Guidelines.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A101E"/>
                </a:solidFill>
              </a:rPr>
              <a:t>✔ 3. OSHA &amp; NIOSH Hazardous Exposure &amp; PID Standards
</a:t>
            </a:r>
            <a:r>
              <a:rPr sz="950">
                <a:solidFill>
                  <a:srgbClr val="475569"/>
                </a:solidFill>
              </a:rPr>
              <a:t>   Photoionization Detector (PID) calibration protocols, Permissible Exposure Limits (PEL), and Immediately Dangerous to Life or Health (IDLH) safety caps.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A101E"/>
                </a:solidFill>
              </a:rPr>
              <a:t>✔ 4. Khronos Group &amp; W3C Web Standards
</a:t>
            </a:r>
            <a:r>
              <a:rPr sz="950">
                <a:solidFill>
                  <a:srgbClr val="475569"/>
                </a:solidFill>
              </a:rPr>
              <a:t>   OpenXR 1.0 Cross-Platform VR Standard &amp; High-Performance WebGL 2.0 / WebAssembly (WASM) 3D graphics pipeline.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A101E"/>
                </a:solidFill>
              </a:rPr>
              <a:t>✔ 5. Enterprise Security &amp; Cryptographic Integrity
</a:t>
            </a:r>
            <a:r>
              <a:rPr sz="950">
                <a:solidFill>
                  <a:srgbClr val="475569"/>
                </a:solidFill>
              </a:rPr>
              <a:t>   Spring Security 6 enterprise authentication, STOMP RFC WebSocket specifications, and SHA-256 tamper-evident digest algorithms.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Surya .</cp:lastModifiedBy>
  <cp:revision>150</cp:revision>
  <dcterms:created xsi:type="dcterms:W3CDTF">2013-12-12T18:46:50Z</dcterms:created>
  <dcterms:modified xsi:type="dcterms:W3CDTF">2026-08-14T15:54:21Z</dcterms:modified>
  <cp:category/>
</cp:coreProperties>
</file>